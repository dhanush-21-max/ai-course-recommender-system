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7"/>
  </p:notesMasterIdLst>
  <p:handoutMasterIdLst>
    <p:handoutMasterId r:id="rId28"/>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3" r:id="rId24"/>
    <p:sldId id="274" r:id="rId25"/>
    <p:sldId id="275" r:id="rId26"/>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4F8"/>
    <a:srgbClr val="0948CB"/>
    <a:srgbClr val="0B49CB"/>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89"/>
    <p:restoredTop sz="85169"/>
  </p:normalViewPr>
  <p:slideViewPr>
    <p:cSldViewPr snapToGrid="0" snapToObjects="1">
      <p:cViewPr varScale="1">
        <p:scale>
          <a:sx n="75" d="100"/>
          <a:sy n="75" d="100"/>
        </p:scale>
        <p:origin x="1397" y="67"/>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10/8/2026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2475089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22</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10/8/2026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5871412" y="3820167"/>
            <a:ext cx="6118575" cy="2838753"/>
            <a:chOff x="5136802" y="3703860"/>
            <a:chExt cx="6118575"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7954" y="4527982"/>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251284" y="2767280"/>
            <a:ext cx="10241280" cy="1323439"/>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251284" y="4166431"/>
            <a:ext cx="2822876" cy="830997"/>
          </a:xfrm>
          <a:prstGeom prst="rect">
            <a:avLst/>
          </a:prstGeom>
          <a:noFill/>
        </p:spPr>
        <p:txBody>
          <a:bodyPr wrap="square" lIns="91440" tIns="45720" rIns="91440" bIns="45720" rtlCol="0" anchor="t">
            <a:spAutoFit/>
          </a:bodyPr>
          <a:lstStyle/>
          <a:p>
            <a:r>
              <a:rPr lang="en-US" sz="2400" dirty="0">
                <a:latin typeface="Abadi"/>
                <a:ea typeface="SF Pro" pitchFamily="2" charset="0"/>
                <a:cs typeface="SF Pro" pitchFamily="2" charset="0"/>
              </a:rPr>
              <a:t>Dhanush V. Hegde</a:t>
            </a:r>
          </a:p>
          <a:p>
            <a:r>
              <a:rPr lang="en-US" sz="2400" dirty="0">
                <a:latin typeface="Abadi" panose="020B0604020104020204" pitchFamily="34" charset="0"/>
                <a:ea typeface="SF Pro" pitchFamily="2" charset="0"/>
                <a:cs typeface="SF Pro" pitchFamily="2" charset="0"/>
              </a:rPr>
              <a:t>08-10-2026</a:t>
            </a: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10606756" y="551721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10606756" y="5035201"/>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92564" y="540618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rgbClr val="0B49CB"/>
                </a:solidFill>
                <a:latin typeface="Abadi"/>
              </a:rPr>
              <a:t>Outline</a:t>
            </a:r>
            <a:endParaRPr lang="en-US" dirty="0">
              <a:solidFill>
                <a:srgbClr val="0B49CB"/>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734028" y="1428492"/>
            <a:ext cx="7180612" cy="49987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600" b="1" dirty="0"/>
              <a:t>Project Background and Context</a:t>
            </a:r>
            <a:endParaRPr lang="en-US" sz="1600" dirty="0"/>
          </a:p>
          <a:p>
            <a:r>
              <a:rPr lang="en-US" sz="1600" dirty="0"/>
              <a:t>Online learning platforms offer a large number of courses across different learning areas.</a:t>
            </a:r>
          </a:p>
          <a:p>
            <a:r>
              <a:rPr lang="en-US" sz="1600" dirty="0"/>
              <a:t>Learners may find it difficult to identify courses that match their interests and previous learning behavior.</a:t>
            </a:r>
          </a:p>
          <a:p>
            <a:r>
              <a:rPr lang="en-US" sz="1600" dirty="0"/>
              <a:t>A machine learning-based recommendation system can help learners discover relevant courses.</a:t>
            </a:r>
          </a:p>
          <a:p>
            <a:r>
              <a:rPr lang="en-US" sz="1600" dirty="0"/>
              <a:t>This project develops and compares multiple recommendation approaches using course information and learner-course interactions.</a:t>
            </a:r>
          </a:p>
          <a:p>
            <a:r>
              <a:rPr lang="en-US" sz="1600" b="1" dirty="0"/>
              <a:t>Hypotheses</a:t>
            </a:r>
            <a:endParaRPr lang="en-US" sz="1600" dirty="0"/>
          </a:p>
          <a:p>
            <a:r>
              <a:rPr lang="en-US" sz="1600" b="1" dirty="0"/>
              <a:t>H1:</a:t>
            </a:r>
            <a:r>
              <a:rPr lang="en-US" sz="1600" dirty="0"/>
              <a:t> Course content and genre information can be used to generate relevant course recommendations.</a:t>
            </a:r>
          </a:p>
          <a:p>
            <a:r>
              <a:rPr lang="en-US" sz="1600" b="1" dirty="0"/>
              <a:t>H2:</a:t>
            </a:r>
            <a:r>
              <a:rPr lang="en-US" sz="1600" dirty="0"/>
              <a:t> Learner interaction history can improve personalized recommendations through collaborative filtering.</a:t>
            </a:r>
          </a:p>
          <a:p>
            <a:r>
              <a:rPr lang="en-US" sz="1600" b="1" dirty="0"/>
              <a:t>H3:</a:t>
            </a:r>
            <a:r>
              <a:rPr lang="en-US" sz="1600" dirty="0"/>
              <a:t> Combining different recommendation approaches can provide a more effective recommendation strategy.</a:t>
            </a:r>
          </a:p>
          <a:p>
            <a:pPr marL="0" indent="0">
              <a:buNone/>
            </a:pPr>
            <a:endParaRPr lang="en-US" sz="1600" dirty="0"/>
          </a:p>
          <a:p>
            <a:pPr marL="0" indent="0">
              <a:spcBef>
                <a:spcPts val="1400"/>
              </a:spcBef>
              <a:buNone/>
            </a:pPr>
            <a:endParaRPr lang="en-US" sz="20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The chart shows the distribution of courses across the different course genres. It highlights which learning areas have the largest representation in the course catalog and which genres have fewer courses.</a:t>
            </a:r>
            <a:endParaRPr lang="en-US" sz="2000" dirty="0">
              <a:solidFill>
                <a:srgbClr val="1C7DDB"/>
              </a:solidFill>
              <a:latin typeface="Abadi"/>
            </a:endParaRPr>
          </a:p>
          <a:p>
            <a:pPr>
              <a:buFontTx/>
              <a:buChar char="-"/>
            </a:pPr>
            <a:endParaRPr lang="en-US" sz="2200" dirty="0">
              <a:solidFill>
                <a:srgbClr val="1C7DDB"/>
              </a:solidFill>
              <a:latin typeface="Abadi"/>
            </a:endParaRPr>
          </a:p>
          <a:p>
            <a:pPr>
              <a:buFontTx/>
              <a:buChar char="-"/>
            </a:pPr>
            <a:endParaRPr lang="en-US" sz="2200" dirty="0">
              <a:solidFill>
                <a:srgbClr val="1C7DDB"/>
              </a:solidFill>
              <a:latin typeface="Abadi"/>
            </a:endParaRPr>
          </a:p>
        </p:txBody>
      </p:sp>
      <p:pic>
        <p:nvPicPr>
          <p:cNvPr id="5" name="Picture 4">
            <a:extLst>
              <a:ext uri="{FF2B5EF4-FFF2-40B4-BE49-F238E27FC236}">
                <a16:creationId xmlns:a16="http://schemas.microsoft.com/office/drawing/2014/main" id="{AE6BC089-E11C-E1AE-0725-C6045EE283A5}"/>
              </a:ext>
            </a:extLst>
          </p:cNvPr>
          <p:cNvPicPr>
            <a:picLocks noChangeAspect="1"/>
          </p:cNvPicPr>
          <p:nvPr/>
        </p:nvPicPr>
        <p:blipFill>
          <a:blip r:embed="rId2"/>
          <a:stretch>
            <a:fillRect/>
          </a:stretch>
        </p:blipFill>
        <p:spPr>
          <a:xfrm>
            <a:off x="4754879" y="2976881"/>
            <a:ext cx="3085625" cy="2560320"/>
          </a:xfrm>
          <a:prstGeom prst="rect">
            <a:avLst/>
          </a:prstGeom>
        </p:spPr>
      </p:pic>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enrollment distribution</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388303" y="187356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accent1"/>
                </a:solidFill>
              </a:rPr>
              <a:t>The histogram shows the distribution of course interactions across learners. It helps identify how frequently learners interact with courses and whether the dataset contains mostly low-activity or highly active learners.</a:t>
            </a:r>
            <a:endParaRPr lang="en-US" sz="2000" dirty="0">
              <a:solidFill>
                <a:schemeClr val="accent1"/>
              </a:solidFill>
              <a:latin typeface="Abadi"/>
              <a:cs typeface="Calibri"/>
            </a:endParaRPr>
          </a:p>
          <a:p>
            <a:pPr marL="0" indent="0">
              <a:buNone/>
            </a:pPr>
            <a:r>
              <a:rPr lang="en-US" sz="2000" dirty="0">
                <a:solidFill>
                  <a:srgbClr val="1C7DDB"/>
                </a:solidFill>
                <a:latin typeface="Abadi"/>
                <a:cs typeface="Calibri"/>
              </a:rPr>
              <a:t>- A sample histogram may look like the following:</a:t>
            </a:r>
          </a:p>
          <a:p>
            <a:pPr>
              <a:buFontTx/>
              <a:buChar char="-"/>
            </a:pPr>
            <a:endParaRPr lang="en-US" sz="2200" dirty="0">
              <a:solidFill>
                <a:srgbClr val="1C7DDB"/>
              </a:solidFill>
              <a:latin typeface="Abadi"/>
              <a:cs typeface="Calibri"/>
            </a:endParaRPr>
          </a:p>
        </p:txBody>
      </p:sp>
      <p:pic>
        <p:nvPicPr>
          <p:cNvPr id="5" name="Picture 4">
            <a:extLst>
              <a:ext uri="{FF2B5EF4-FFF2-40B4-BE49-F238E27FC236}">
                <a16:creationId xmlns:a16="http://schemas.microsoft.com/office/drawing/2014/main" id="{7357606B-FEA2-0A15-97E6-E9A3F187B131}"/>
              </a:ext>
            </a:extLst>
          </p:cNvPr>
          <p:cNvPicPr>
            <a:picLocks noChangeAspect="1"/>
          </p:cNvPicPr>
          <p:nvPr/>
        </p:nvPicPr>
        <p:blipFill>
          <a:blip r:embed="rId2"/>
          <a:stretch>
            <a:fillRect/>
          </a:stretch>
        </p:blipFill>
        <p:spPr>
          <a:xfrm>
            <a:off x="2122924" y="3312160"/>
            <a:ext cx="4810439" cy="2261112"/>
          </a:xfrm>
          <a:prstGeom prst="rect">
            <a:avLst/>
          </a:prstGeom>
        </p:spPr>
      </p:pic>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20 most popular courses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61813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accent1"/>
                </a:solidFill>
              </a:rPr>
              <a:t>The chart shows the 20 courses with the highest number of learner interactions. It highlights the most popular courses in the dataset based on learner activity.</a:t>
            </a:r>
            <a:endParaRPr lang="en-US" sz="2000" dirty="0">
              <a:solidFill>
                <a:schemeClr val="accent1"/>
              </a:solidFill>
              <a:latin typeface="Abadi"/>
              <a:cs typeface="Calibri"/>
            </a:endParaRPr>
          </a:p>
          <a:p>
            <a:pPr>
              <a:buFontTx/>
              <a:buChar char="-"/>
            </a:pPr>
            <a:endParaRPr lang="en-US" sz="2000" dirty="0">
              <a:solidFill>
                <a:srgbClr val="1C7DDB"/>
              </a:solidFill>
              <a:latin typeface="Abadi"/>
            </a:endParaRPr>
          </a:p>
          <a:p>
            <a:pPr>
              <a:buFontTx/>
              <a:buChar char="-"/>
            </a:pPr>
            <a:endParaRPr lang="en-US" sz="2200" dirty="0">
              <a:solidFill>
                <a:srgbClr val="1C7DDB"/>
              </a:solidFill>
              <a:latin typeface="Abadi"/>
              <a:cs typeface="Calibri"/>
            </a:endParaRPr>
          </a:p>
        </p:txBody>
      </p:sp>
      <p:pic>
        <p:nvPicPr>
          <p:cNvPr id="5" name="Picture 4">
            <a:extLst>
              <a:ext uri="{FF2B5EF4-FFF2-40B4-BE49-F238E27FC236}">
                <a16:creationId xmlns:a16="http://schemas.microsoft.com/office/drawing/2014/main" id="{18DEBB7D-8335-7434-73F2-A53E2B7CD63E}"/>
              </a:ext>
            </a:extLst>
          </p:cNvPr>
          <p:cNvPicPr>
            <a:picLocks noChangeAspect="1"/>
          </p:cNvPicPr>
          <p:nvPr/>
        </p:nvPicPr>
        <p:blipFill>
          <a:blip r:embed="rId2"/>
          <a:stretch>
            <a:fillRect/>
          </a:stretch>
        </p:blipFill>
        <p:spPr>
          <a:xfrm>
            <a:off x="2871358" y="2357120"/>
            <a:ext cx="2858882" cy="3870960"/>
          </a:xfrm>
          <a:prstGeom prst="rect">
            <a:avLst/>
          </a:prstGeom>
        </p:spPr>
      </p:pic>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Word cloud of course titles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357823" y="1027906"/>
            <a:ext cx="10515600" cy="5139214"/>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1"/>
                </a:solidFill>
              </a:rPr>
              <a:t>Explanation:</a:t>
            </a:r>
            <a:r>
              <a:rPr lang="en-US" sz="2000" dirty="0">
                <a:solidFill>
                  <a:schemeClr val="accent1"/>
                </a:solidFill>
              </a:rPr>
              <a:t> The word cloud summarizes the main terms appearing in the course titles. Larger words represent terms that occur more frequently, helping us identify the major subject areas and topics represented in the course catalog. This analysis also provides an initial understanding of the textual information that can later be used for content-based recommendation.</a:t>
            </a:r>
            <a:endParaRPr lang="en-US" sz="2000" dirty="0">
              <a:solidFill>
                <a:schemeClr val="accent1"/>
              </a:solidFill>
              <a:latin typeface="Abadi"/>
            </a:endParaRPr>
          </a:p>
        </p:txBody>
      </p:sp>
      <p:pic>
        <p:nvPicPr>
          <p:cNvPr id="3" name="Picture 2">
            <a:extLst>
              <a:ext uri="{FF2B5EF4-FFF2-40B4-BE49-F238E27FC236}">
                <a16:creationId xmlns:a16="http://schemas.microsoft.com/office/drawing/2014/main" id="{DB563999-D73E-D7EF-0D8D-C9754D0D58CA}"/>
              </a:ext>
            </a:extLst>
          </p:cNvPr>
          <p:cNvPicPr>
            <a:picLocks noChangeAspect="1"/>
          </p:cNvPicPr>
          <p:nvPr/>
        </p:nvPicPr>
        <p:blipFill>
          <a:blip r:embed="rId2"/>
          <a:stretch>
            <a:fillRect/>
          </a:stretch>
        </p:blipFill>
        <p:spPr>
          <a:xfrm>
            <a:off x="1042405" y="2353469"/>
            <a:ext cx="9127755" cy="3476625"/>
          </a:xfrm>
          <a:prstGeom prst="rect">
            <a:avLst/>
          </a:prstGeom>
        </p:spPr>
      </p:pic>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user profile and course genres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066128"/>
            <a:ext cx="1645920" cy="88125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datasets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128692"/>
            <a:ext cx="1645920" cy="88124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Dataset</a:t>
            </a:r>
          </a:p>
          <a:p>
            <a:pPr algn="ctr"/>
            <a:endParaRPr lang="en-US" dirty="0">
              <a:solidFill>
                <a:schemeClr val="tx1"/>
              </a:solidFill>
            </a:endParaRP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01151"/>
            <a:ext cx="1840766" cy="81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Cleaning and Preprocessing</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066128"/>
            <a:ext cx="1840766" cy="88124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Course Generation Features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066128"/>
            <a:ext cx="1645920" cy="88125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Profile+ Course Genre</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E173441-1701-17B5-D68E-AFC7575EF3B9}"/>
              </a:ext>
            </a:extLst>
          </p:cNvPr>
          <p:cNvSpPr txBox="1"/>
          <p:nvPr/>
        </p:nvSpPr>
        <p:spPr>
          <a:xfrm>
            <a:off x="885466" y="1898074"/>
            <a:ext cx="8492214" cy="1200329"/>
          </a:xfrm>
          <a:prstGeom prst="rect">
            <a:avLst/>
          </a:prstGeom>
          <a:noFill/>
        </p:spPr>
        <p:txBody>
          <a:bodyPr wrap="square">
            <a:spAutoFit/>
          </a:bodyPr>
          <a:lstStyle/>
          <a:p>
            <a:r>
              <a:rPr lang="en-US" dirty="0">
                <a:solidFill>
                  <a:schemeClr val="accent1"/>
                </a:solidFill>
              </a:rPr>
              <a:t>The system combines learner interaction history with course genre information to create user profile vectors. Course genre vectors are then compared with the learner profile using cosine similarity. Courses with the highest similarity scores are ranked and recommended to the learner.</a:t>
            </a:r>
          </a:p>
        </p:txBody>
      </p:sp>
      <p:sp>
        <p:nvSpPr>
          <p:cNvPr id="24" name="Rectangle 4">
            <a:extLst>
              <a:ext uri="{FF2B5EF4-FFF2-40B4-BE49-F238E27FC236}">
                <a16:creationId xmlns:a16="http://schemas.microsoft.com/office/drawing/2014/main" id="{CFF93EC3-22F2-1CDC-BFA1-708BC7F29B2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Users + Courses + Interactions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5">
            <a:extLst>
              <a:ext uri="{FF2B5EF4-FFF2-40B4-BE49-F238E27FC236}">
                <a16:creationId xmlns:a16="http://schemas.microsoft.com/office/drawing/2014/main" id="{85EC0FB9-4722-BE87-FB3D-A794EB621B58}"/>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Users + Courses + Interactions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6">
            <a:extLst>
              <a:ext uri="{FF2B5EF4-FFF2-40B4-BE49-F238E27FC236}">
                <a16:creationId xmlns:a16="http://schemas.microsoft.com/office/drawing/2014/main" id="{5466903A-2E1B-1514-426D-372209FAD7DB}"/>
              </a:ext>
            </a:extLst>
          </p:cNvPr>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Users + Courses + Interactions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user profile-based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3" y="3016251"/>
            <a:ext cx="5043399" cy="3476624"/>
          </a:xfrm>
          <a:prstGeom prst="rect">
            <a:avLst/>
          </a:prstGeom>
          <a:ln>
            <a:solidFill>
              <a:srgbClr val="0B49CB"/>
            </a:solidFill>
            <a:prstDash val="dash"/>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1C7DDB"/>
                </a:solidFill>
                <a:latin typeface="Abadi"/>
              </a:rPr>
              <a:t>getting started with the data  </a:t>
            </a:r>
            <a:r>
              <a:rPr lang="en-US" sz="2200" dirty="0" err="1">
                <a:solidFill>
                  <a:srgbClr val="1C7DDB"/>
                </a:solidFill>
                <a:latin typeface="Abadi"/>
              </a:rPr>
              <a:t>apache</a:t>
            </a:r>
            <a:r>
              <a:rPr lang="en-US" sz="2200" dirty="0">
                <a:solidFill>
                  <a:srgbClr val="1C7DDB"/>
                </a:solidFill>
                <a:latin typeface="Abadi"/>
              </a:rPr>
              <a:t> spark makers build (27)</a:t>
            </a:r>
          </a:p>
          <a:p>
            <a:pPr marL="0" indent="0">
              <a:buNone/>
            </a:pPr>
            <a:r>
              <a:rPr lang="en-US" sz="2200" dirty="0">
                <a:solidFill>
                  <a:srgbClr val="1C7DDB"/>
                </a:solidFill>
                <a:latin typeface="Abadi"/>
              </a:rPr>
              <a:t>foundations for big data analysis with </a:t>
            </a:r>
            <a:r>
              <a:rPr lang="en-US" sz="2200" dirty="0" err="1">
                <a:solidFill>
                  <a:srgbClr val="1C7DDB"/>
                </a:solidFill>
                <a:latin typeface="Abadi"/>
              </a:rPr>
              <a:t>sql</a:t>
            </a:r>
            <a:r>
              <a:rPr lang="en-US" sz="2200" dirty="0">
                <a:solidFill>
                  <a:srgbClr val="1C7DDB"/>
                </a:solidFill>
                <a:latin typeface="Abadi"/>
              </a:rPr>
              <a:t> (27)</a:t>
            </a:r>
          </a:p>
          <a:p>
            <a:pPr marL="0" indent="0">
              <a:buNone/>
            </a:pPr>
            <a:r>
              <a:rPr lang="en-US" sz="2200" dirty="0">
                <a:solidFill>
                  <a:srgbClr val="1C7DDB"/>
                </a:solidFill>
                <a:latin typeface="Abadi"/>
              </a:rPr>
              <a:t>analyzing big data with </a:t>
            </a:r>
            <a:r>
              <a:rPr lang="en-US" sz="2200" dirty="0" err="1">
                <a:solidFill>
                  <a:srgbClr val="1C7DDB"/>
                </a:solidFill>
                <a:latin typeface="Abadi"/>
              </a:rPr>
              <a:t>sql</a:t>
            </a:r>
            <a:r>
              <a:rPr lang="en-US" sz="2200" dirty="0">
                <a:solidFill>
                  <a:srgbClr val="1C7DDB"/>
                </a:solidFill>
                <a:latin typeface="Abadi"/>
              </a:rPr>
              <a:t> (27)</a:t>
            </a:r>
          </a:p>
          <a:p>
            <a:pPr marL="0" indent="0">
              <a:buNone/>
            </a:pPr>
            <a:r>
              <a:rPr lang="en-US" sz="2200" dirty="0">
                <a:solidFill>
                  <a:srgbClr val="1C7DDB"/>
                </a:solidFill>
                <a:latin typeface="Abadi"/>
              </a:rPr>
              <a:t>spark overview for scala analytics (27)</a:t>
            </a:r>
          </a:p>
          <a:p>
            <a:pPr marL="0" indent="0">
              <a:buNone/>
            </a:pPr>
            <a:r>
              <a:rPr lang="en-US" sz="2200" dirty="0">
                <a:solidFill>
                  <a:srgbClr val="1C7DDB"/>
                </a:solidFill>
                <a:latin typeface="Abadi"/>
              </a:rPr>
              <a:t>spark fundamentals ii (27)</a:t>
            </a:r>
          </a:p>
          <a:p>
            <a:pPr marL="0" indent="0">
              <a:buNone/>
            </a:pPr>
            <a:r>
              <a:rPr lang="en-US" sz="2200" dirty="0">
                <a:solidFill>
                  <a:srgbClr val="1C7DDB"/>
                </a:solidFill>
                <a:latin typeface="Abadi"/>
              </a:rPr>
              <a:t>spark fundamentals </a:t>
            </a:r>
            <a:r>
              <a:rPr lang="en-US" sz="2200" dirty="0" err="1">
                <a:solidFill>
                  <a:srgbClr val="1C7DDB"/>
                </a:solidFill>
                <a:latin typeface="Abadi"/>
              </a:rPr>
              <a:t>i</a:t>
            </a:r>
            <a:r>
              <a:rPr lang="en-US" sz="2200" dirty="0">
                <a:solidFill>
                  <a:srgbClr val="1C7DDB"/>
                </a:solidFill>
                <a:latin typeface="Abadi"/>
              </a:rPr>
              <a:t> (27)</a:t>
            </a:r>
          </a:p>
          <a:p>
            <a:pPr marL="0" indent="0">
              <a:buNone/>
            </a:pPr>
            <a:r>
              <a:rPr lang="en-US" sz="2200" dirty="0">
                <a:solidFill>
                  <a:srgbClr val="1C7DDB"/>
                </a:solidFill>
                <a:latin typeface="Abadi"/>
              </a:rPr>
              <a:t>analyzing big data in r using </a:t>
            </a:r>
            <a:r>
              <a:rPr lang="en-US" sz="2200" dirty="0" err="1">
                <a:solidFill>
                  <a:srgbClr val="1C7DDB"/>
                </a:solidFill>
                <a:latin typeface="Abadi"/>
              </a:rPr>
              <a:t>apache</a:t>
            </a:r>
            <a:r>
              <a:rPr lang="en-US" sz="2200" dirty="0">
                <a:solidFill>
                  <a:srgbClr val="1C7DDB"/>
                </a:solidFill>
                <a:latin typeface="Abadi"/>
              </a:rPr>
              <a:t> spark (19)</a:t>
            </a:r>
          </a:p>
          <a:p>
            <a:pPr marL="0" indent="0">
              <a:buNone/>
            </a:pPr>
            <a:r>
              <a:rPr lang="en-US" sz="2200" dirty="0">
                <a:solidFill>
                  <a:srgbClr val="1C7DDB"/>
                </a:solidFill>
                <a:latin typeface="Abadi"/>
              </a:rPr>
              <a:t>accessing </a:t>
            </a:r>
            <a:r>
              <a:rPr lang="en-US" sz="2200" dirty="0" err="1">
                <a:solidFill>
                  <a:srgbClr val="1C7DDB"/>
                </a:solidFill>
                <a:latin typeface="Abadi"/>
              </a:rPr>
              <a:t>hadoop</a:t>
            </a:r>
            <a:r>
              <a:rPr lang="en-US" sz="2200" dirty="0">
                <a:solidFill>
                  <a:srgbClr val="1C7DDB"/>
                </a:solidFill>
                <a:latin typeface="Abadi"/>
              </a:rPr>
              <a:t> data using hive (19)</a:t>
            </a:r>
          </a:p>
          <a:p>
            <a:pPr marL="0" indent="0">
              <a:buNone/>
            </a:pPr>
            <a:r>
              <a:rPr lang="en-US" sz="2200" dirty="0">
                <a:solidFill>
                  <a:srgbClr val="1C7DDB"/>
                </a:solidFill>
                <a:latin typeface="Abadi"/>
              </a:rPr>
              <a:t>using </a:t>
            </a:r>
            <a:r>
              <a:rPr lang="en-US" sz="2200" dirty="0" err="1">
                <a:solidFill>
                  <a:srgbClr val="1C7DDB"/>
                </a:solidFill>
                <a:latin typeface="Abadi"/>
              </a:rPr>
              <a:t>hbase</a:t>
            </a:r>
            <a:r>
              <a:rPr lang="en-US" sz="2200" dirty="0">
                <a:solidFill>
                  <a:srgbClr val="1C7DDB"/>
                </a:solidFill>
                <a:latin typeface="Abadi"/>
              </a:rPr>
              <a:t> for real time access to your big data (16)</a:t>
            </a:r>
          </a:p>
          <a:p>
            <a:pPr marL="0" indent="0">
              <a:buNone/>
            </a:pPr>
            <a:r>
              <a:rPr lang="en-US" sz="2200" dirty="0">
                <a:solidFill>
                  <a:srgbClr val="1C7DDB"/>
                </a:solidFill>
                <a:latin typeface="Abadi"/>
              </a:rPr>
              <a:t>big data   capstone project (13)</a:t>
            </a:r>
            <a:endParaRPr lang="en-US" sz="2000" dirty="0">
              <a:solidFill>
                <a:srgbClr val="1C7DDB"/>
              </a:solidFill>
              <a:latin typeface="Abadi"/>
            </a:endParaRP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3016251"/>
            <a:ext cx="4720206" cy="347662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US" sz="2000" dirty="0">
                <a:solidFill>
                  <a:srgbClr val="1C7DDB"/>
                </a:solidFill>
                <a:latin typeface="Abadi"/>
              </a:rPr>
              <a:t>On average, how many new/unseen courses have been recommended per user (in the test user dataset)</a:t>
            </a:r>
          </a:p>
          <a:p>
            <a:pPr marL="0" indent="0">
              <a:buNone/>
            </a:pPr>
            <a:r>
              <a:rPr lang="en-US" sz="2400" dirty="0">
                <a:solidFill>
                  <a:schemeClr val="accent1"/>
                </a:solidFill>
                <a:cs typeface="Calibri"/>
              </a:rPr>
              <a:t>Average unseen courses per user: 8.34</a:t>
            </a: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1082991"/>
          </a:xfrm>
          <a:prstGeom prst="rect">
            <a:avLst/>
          </a:prstGeom>
          <a:ln>
            <a:solidFill>
              <a:srgbClr val="0B49CB"/>
            </a:solidFill>
            <a:prstDash val="dash"/>
          </a:ln>
        </p:spPr>
        <p:txBody>
          <a:bodyPr vert="horz" lIns="91440" tIns="45720" rIns="91440" bIns="45720" rtlCol="0"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5600" b="1" dirty="0">
                <a:solidFill>
                  <a:schemeClr val="accent1"/>
                </a:solidFill>
              </a:rPr>
              <a:t>Hyper-parameters</a:t>
            </a:r>
            <a:endParaRPr lang="en-US" sz="5600" dirty="0">
              <a:solidFill>
                <a:schemeClr val="accent1"/>
              </a:solidFill>
            </a:endParaRPr>
          </a:p>
          <a:p>
            <a:r>
              <a:rPr lang="en-US" sz="5600" dirty="0">
                <a:solidFill>
                  <a:schemeClr val="accent1"/>
                </a:solidFill>
              </a:rPr>
              <a:t>Number of recommendations: </a:t>
            </a:r>
            <a:r>
              <a:rPr lang="en-US" sz="5600" b="1" dirty="0">
                <a:solidFill>
                  <a:schemeClr val="accent1"/>
                </a:solidFill>
              </a:rPr>
              <a:t>10</a:t>
            </a:r>
            <a:endParaRPr lang="en-US" sz="5600" dirty="0">
              <a:solidFill>
                <a:schemeClr val="accent1"/>
              </a:solidFill>
            </a:endParaRPr>
          </a:p>
          <a:p>
            <a:r>
              <a:rPr lang="en-US" sz="5600" dirty="0">
                <a:solidFill>
                  <a:schemeClr val="accent1"/>
                </a:solidFill>
              </a:rPr>
              <a:t>Similarity measure: </a:t>
            </a:r>
            <a:r>
              <a:rPr lang="en-US" sz="5600" b="1" dirty="0">
                <a:solidFill>
                  <a:schemeClr val="accent1"/>
                </a:solidFill>
              </a:rPr>
              <a:t>Cosine Similarity</a:t>
            </a:r>
            <a:endParaRPr lang="en-US" sz="5600" dirty="0">
              <a:solidFill>
                <a:schemeClr val="accent1"/>
              </a:solidFill>
            </a:endParaRPr>
          </a:p>
          <a:p>
            <a:r>
              <a:rPr lang="en-US" sz="5600" dirty="0">
                <a:solidFill>
                  <a:schemeClr val="accent1"/>
                </a:solidFill>
              </a:rPr>
              <a:t>Test users: </a:t>
            </a:r>
            <a:r>
              <a:rPr lang="en-US" sz="5600" b="1" dirty="0">
                <a:solidFill>
                  <a:schemeClr val="accent1"/>
                </a:solidFill>
              </a:rPr>
              <a:t>50</a:t>
            </a:r>
            <a:endParaRPr lang="en-US" sz="5600" dirty="0">
              <a:solidFill>
                <a:schemeClr val="accent1"/>
              </a:solidFill>
            </a:endParaRPr>
          </a:p>
          <a:p>
            <a:pPr marL="0" indent="0">
              <a:buNone/>
            </a:pPr>
            <a:endParaRPr lang="en-US" sz="2000" dirty="0">
              <a:cs typeface="Calibri"/>
            </a:endParaRPr>
          </a:p>
        </p:txBody>
      </p:sp>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course similarity</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456270"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1C7DDB"/>
                </a:solidFill>
                <a:latin typeface="Abadi"/>
              </a:rPr>
              <a:t>The course similarity recommender uses cleaned course text to create TF-IDF feature vectors. Cosine similarity is then used to compare courses and identify the most similar courses for recommendation.</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3"/>
            <a:ext cx="1645920" cy="117124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course titles and descriptions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Course titles + descriptions</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10971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Text preprocessing + TF-IDF</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TF-IDF course vectors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Course feature representation</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course similarity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4" y="3635625"/>
            <a:ext cx="4720206" cy="285725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3635625"/>
            <a:ext cx="4720206" cy="2857249"/>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US" sz="2000" dirty="0">
                <a:solidFill>
                  <a:srgbClr val="1C7DDB"/>
                </a:solidFill>
                <a:latin typeface="Abadi"/>
              </a:rPr>
              <a:t>On average, how many new/unseen courses have been recommended per user (in the test user dataset)</a:t>
            </a:r>
          </a:p>
          <a:p>
            <a:pPr marL="0" indent="0">
              <a:buNone/>
            </a:pPr>
            <a:r>
              <a:rPr lang="en-US" sz="1800" dirty="0">
                <a:solidFill>
                  <a:schemeClr val="accent1"/>
                </a:solidFill>
                <a:cs typeface="Calibri"/>
              </a:rPr>
              <a:t>Average recommended courses per course: 5.8</a:t>
            </a: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1531687"/>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accent1"/>
                </a:solidFill>
              </a:rPr>
              <a:t>Number of recommendations: </a:t>
            </a:r>
            <a:r>
              <a:rPr lang="en-US" sz="1800" b="1" dirty="0">
                <a:solidFill>
                  <a:schemeClr val="accent1"/>
                </a:solidFill>
              </a:rPr>
              <a:t>5</a:t>
            </a:r>
          </a:p>
          <a:p>
            <a:pPr marL="0" indent="0">
              <a:buNone/>
            </a:pPr>
            <a:r>
              <a:rPr lang="en-US" sz="1800" dirty="0">
                <a:solidFill>
                  <a:schemeClr val="accent1"/>
                </a:solidFill>
                <a:cs typeface="Calibri"/>
              </a:rPr>
              <a:t>Similarity method: Cosine similarity</a:t>
            </a:r>
          </a:p>
          <a:p>
            <a:pPr marL="0" indent="0">
              <a:buNone/>
            </a:pPr>
            <a:r>
              <a:rPr lang="en-US" sz="1800" dirty="0">
                <a:solidFill>
                  <a:schemeClr val="accent1"/>
                </a:solidFill>
                <a:cs typeface="Calibri"/>
              </a:rPr>
              <a:t>Text representation: TF-IDF</a:t>
            </a:r>
          </a:p>
          <a:p>
            <a:pPr marL="0" indent="0">
              <a:buNone/>
            </a:pPr>
            <a:r>
              <a:rPr lang="en-US" sz="1800" dirty="0">
                <a:solidFill>
                  <a:schemeClr val="accent1"/>
                </a:solidFill>
                <a:cs typeface="Calibri"/>
              </a:rPr>
              <a:t>Maximum TF-IDF Features: 1000</a:t>
            </a:r>
          </a:p>
        </p:txBody>
      </p:sp>
      <p:sp>
        <p:nvSpPr>
          <p:cNvPr id="5" name="Rectangle 3">
            <a:extLst>
              <a:ext uri="{FF2B5EF4-FFF2-40B4-BE49-F238E27FC236}">
                <a16:creationId xmlns:a16="http://schemas.microsoft.com/office/drawing/2014/main" id="{0FC8A77E-0CE0-FDBD-A513-FC30CE0D871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Similarity method: </a:t>
            </a:r>
            <a:r>
              <a:rPr kumimoji="0" lang="en-US" altLang="en-US" sz="1800" b="1" i="0" u="none" strike="noStrike" cap="none" normalizeH="0" baseline="0">
                <a:ln>
                  <a:noFill/>
                </a:ln>
                <a:solidFill>
                  <a:schemeClr val="tx1"/>
                </a:solidFill>
                <a:effectLst/>
                <a:latin typeface="Arial" panose="020B0604020202020204" pitchFamily="34" charset="0"/>
              </a:rPr>
              <a:t>Cosine Similarity</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786638B5-695D-DB04-56F7-8D95DDBB718D}"/>
              </a:ext>
            </a:extLst>
          </p:cNvPr>
          <p:cNvPicPr>
            <a:picLocks noChangeAspect="1"/>
          </p:cNvPicPr>
          <p:nvPr/>
        </p:nvPicPr>
        <p:blipFill>
          <a:blip r:embed="rId2"/>
          <a:stretch>
            <a:fillRect/>
          </a:stretch>
        </p:blipFill>
        <p:spPr>
          <a:xfrm>
            <a:off x="6712196" y="3741924"/>
            <a:ext cx="4641603" cy="2750950"/>
          </a:xfrm>
          <a:prstGeom prst="rect">
            <a:avLst/>
          </a:prstGeom>
        </p:spPr>
      </p:pic>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clustering-based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1C7DDB"/>
                </a:solidFill>
                <a:latin typeface="Abadi"/>
              </a:rPr>
              <a:t>Learner interaction data is processed to create user profiles based on course genre preferences. These profile vectors are then used as features for K-Means clustering to group learners with similar interests. The resulting learner groups can be used to identify courses that are relevant to each cluster.</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3"/>
            <a:ext cx="1645920" cy="96734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user profiles + course data</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User-course interactions</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Create user genre profiles</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Genre preference vectors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profile feature matrix</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clustering-based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846954" y="3635625"/>
            <a:ext cx="4720206" cy="2918186"/>
          </a:xfrm>
          <a:prstGeom prst="rect">
            <a:avLst/>
          </a:prstGeom>
          <a:ln>
            <a:solidFill>
              <a:srgbClr val="0B49CB"/>
            </a:solidFill>
            <a:prstDash val="dash"/>
          </a:ln>
        </p:spPr>
        <p:txBody>
          <a:bodyPr vert="horz" lIns="91440" tIns="45720" rIns="91440" bIns="45720" rtlCol="0" anchor="t">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r>
              <a:rPr lang="en-US" sz="2200" dirty="0">
                <a:solidFill>
                  <a:srgbClr val="1C7DDB"/>
                </a:solidFill>
                <a:latin typeface="Abadi"/>
              </a:rPr>
              <a:t>python for data science (2 cluster(s))</a:t>
            </a:r>
          </a:p>
          <a:p>
            <a:pPr marL="0" indent="0">
              <a:buNone/>
            </a:pPr>
            <a:r>
              <a:rPr lang="en-US" sz="2200" dirty="0">
                <a:solidFill>
                  <a:srgbClr val="1C7DDB"/>
                </a:solidFill>
                <a:latin typeface="Abadi"/>
              </a:rPr>
              <a:t>big data 101 (2 cluster(s))</a:t>
            </a:r>
          </a:p>
          <a:p>
            <a:pPr marL="0" indent="0">
              <a:buNone/>
            </a:pPr>
            <a:r>
              <a:rPr lang="en-US" sz="2200" dirty="0">
                <a:solidFill>
                  <a:srgbClr val="1C7DDB"/>
                </a:solidFill>
                <a:latin typeface="Abadi"/>
              </a:rPr>
              <a:t>deep learning 101 (2 cluster(s))</a:t>
            </a:r>
          </a:p>
          <a:p>
            <a:pPr marL="0" indent="0">
              <a:buNone/>
            </a:pPr>
            <a:r>
              <a:rPr lang="en-US" sz="2200" dirty="0">
                <a:solidFill>
                  <a:srgbClr val="1C7DDB"/>
                </a:solidFill>
                <a:latin typeface="Abadi"/>
              </a:rPr>
              <a:t>spark fundamentals </a:t>
            </a:r>
            <a:r>
              <a:rPr lang="en-US" sz="2200" dirty="0" err="1">
                <a:solidFill>
                  <a:srgbClr val="1C7DDB"/>
                </a:solidFill>
                <a:latin typeface="Abadi"/>
              </a:rPr>
              <a:t>i</a:t>
            </a:r>
            <a:r>
              <a:rPr lang="en-US" sz="2200" dirty="0">
                <a:solidFill>
                  <a:srgbClr val="1C7DDB"/>
                </a:solidFill>
                <a:latin typeface="Abadi"/>
              </a:rPr>
              <a:t> (2 cluster(s))</a:t>
            </a:r>
          </a:p>
          <a:p>
            <a:pPr marL="0" indent="0">
              <a:buNone/>
            </a:pPr>
            <a:r>
              <a:rPr lang="en-US" sz="2200" dirty="0" err="1">
                <a:solidFill>
                  <a:srgbClr val="1C7DDB"/>
                </a:solidFill>
                <a:latin typeface="Abadi"/>
              </a:rPr>
              <a:t>hadoop</a:t>
            </a:r>
            <a:r>
              <a:rPr lang="en-US" sz="2200" dirty="0">
                <a:solidFill>
                  <a:srgbClr val="1C7DDB"/>
                </a:solidFill>
                <a:latin typeface="Abadi"/>
              </a:rPr>
              <a:t> 101 (2 cluster(s))</a:t>
            </a:r>
          </a:p>
          <a:p>
            <a:pPr marL="0" indent="0">
              <a:buNone/>
            </a:pPr>
            <a:r>
              <a:rPr lang="en-US" sz="2200" dirty="0" err="1">
                <a:solidFill>
                  <a:srgbClr val="1C7DDB"/>
                </a:solidFill>
                <a:latin typeface="Abadi"/>
              </a:rPr>
              <a:t>watson</a:t>
            </a:r>
            <a:r>
              <a:rPr lang="en-US" sz="2200" dirty="0">
                <a:solidFill>
                  <a:srgbClr val="1C7DDB"/>
                </a:solidFill>
                <a:latin typeface="Abadi"/>
              </a:rPr>
              <a:t> analytics 101 (2 cluster(s))</a:t>
            </a:r>
          </a:p>
          <a:p>
            <a:pPr marL="0" indent="0">
              <a:buNone/>
            </a:pPr>
            <a:r>
              <a:rPr lang="en-US" sz="2200" dirty="0">
                <a:solidFill>
                  <a:srgbClr val="1C7DDB"/>
                </a:solidFill>
                <a:latin typeface="Abadi"/>
              </a:rPr>
              <a:t>introduction to data science (1 cluster(s))</a:t>
            </a:r>
          </a:p>
          <a:p>
            <a:pPr marL="0" indent="0">
              <a:buNone/>
            </a:pPr>
            <a:r>
              <a:rPr lang="en-US" sz="2200" dirty="0">
                <a:solidFill>
                  <a:srgbClr val="1C7DDB"/>
                </a:solidFill>
                <a:latin typeface="Abadi"/>
              </a:rPr>
              <a:t>build your own chatbot (1 cluster(s))</a:t>
            </a:r>
          </a:p>
          <a:p>
            <a:pPr marL="0" indent="0">
              <a:buNone/>
            </a:pPr>
            <a:r>
              <a:rPr lang="en-US" sz="2200" dirty="0">
                <a:solidFill>
                  <a:srgbClr val="1C7DDB"/>
                </a:solidFill>
                <a:latin typeface="Abadi"/>
              </a:rPr>
              <a:t>data science methodology (1 cluster(s))</a:t>
            </a:r>
          </a:p>
          <a:p>
            <a:pPr marL="0" indent="0">
              <a:buNone/>
            </a:pPr>
            <a:r>
              <a:rPr lang="en-US" sz="2200" dirty="0">
                <a:solidFill>
                  <a:srgbClr val="1C7DDB"/>
                </a:solidFill>
                <a:latin typeface="Abadi"/>
              </a:rPr>
              <a:t>data science hands on with open source tools (1 cluster(s))</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3635625"/>
            <a:ext cx="4720206" cy="2857249"/>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US" sz="2000" dirty="0">
                <a:solidFill>
                  <a:srgbClr val="1C7DDB"/>
                </a:solidFill>
                <a:latin typeface="Abadi"/>
              </a:rPr>
              <a:t>On average, how many new/unseen courses have been recommended per user (in the test user dataset)</a:t>
            </a:r>
          </a:p>
          <a:p>
            <a:pPr marL="0" indent="0">
              <a:buNone/>
            </a:pPr>
            <a:r>
              <a:rPr lang="en-US" sz="2000" dirty="0">
                <a:solidFill>
                  <a:schemeClr val="accent1"/>
                </a:solidFill>
                <a:cs typeface="Calibri"/>
              </a:rPr>
              <a:t>Average unseen courses per user: 3.53</a:t>
            </a: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1531687"/>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accent1"/>
                </a:solidFill>
                <a:cs typeface="Calibri"/>
              </a:rPr>
              <a:t>Algorithm: K-Means</a:t>
            </a:r>
          </a:p>
          <a:p>
            <a:pPr marL="0" indent="0">
              <a:buNone/>
            </a:pPr>
            <a:r>
              <a:rPr lang="en-US" sz="1800" dirty="0">
                <a:solidFill>
                  <a:schemeClr val="accent1"/>
                </a:solidFill>
                <a:cs typeface="Calibri"/>
              </a:rPr>
              <a:t>Number of clusters: 3</a:t>
            </a:r>
          </a:p>
          <a:p>
            <a:pPr marL="0" indent="0">
              <a:buNone/>
            </a:pPr>
            <a:r>
              <a:rPr lang="en-US" sz="1800" dirty="0">
                <a:solidFill>
                  <a:schemeClr val="accent1"/>
                </a:solidFill>
                <a:cs typeface="Calibri"/>
              </a:rPr>
              <a:t>Evaluation Samples: 300 users</a:t>
            </a:r>
          </a:p>
          <a:p>
            <a:pPr marL="0" indent="0">
              <a:buNone/>
            </a:pPr>
            <a:r>
              <a:rPr lang="en-US" sz="1800" dirty="0">
                <a:solidFill>
                  <a:schemeClr val="accent1"/>
                </a:solidFill>
                <a:cs typeface="Calibri"/>
              </a:rPr>
              <a:t>Random state:42</a:t>
            </a:r>
          </a:p>
        </p:txBody>
      </p:sp>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KNN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1C7DDB"/>
                </a:solidFill>
                <a:latin typeface="Abadi"/>
              </a:rPr>
              <a:t>KNN identifies learners with similar course-rating patterns and uses their preferences to recommend courses.</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3"/>
            <a:ext cx="1645920" cy="84542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user-course rating data</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3"/>
            <a:ext cx="1645920" cy="101814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Users + Courses + Ratings</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User-Course Rating Matrix</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Rating Vectors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Collaborative User Features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NMF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endParaRPr lang="en-US" sz="2400" dirty="0">
              <a:cs typeface="Calibr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3"/>
            <a:ext cx="1645920" cy="91653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user-course rating data</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252748"/>
            <a:ext cx="1645920" cy="9999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Users + Courses + Ratings</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User-Course Rating Matrix</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Rating Vectors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Latent User + Course Factors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5073FC8-CF78-A45C-76B7-6038A13E744C}"/>
              </a:ext>
            </a:extLst>
          </p:cNvPr>
          <p:cNvSpPr txBox="1"/>
          <p:nvPr/>
        </p:nvSpPr>
        <p:spPr>
          <a:xfrm>
            <a:off x="947972" y="1845726"/>
            <a:ext cx="9303468" cy="923330"/>
          </a:xfrm>
          <a:prstGeom prst="rect">
            <a:avLst/>
          </a:prstGeom>
          <a:noFill/>
        </p:spPr>
        <p:txBody>
          <a:bodyPr wrap="square">
            <a:spAutoFit/>
          </a:bodyPr>
          <a:lstStyle/>
          <a:p>
            <a:r>
              <a:rPr lang="en-US" b="1" dirty="0">
                <a:solidFill>
                  <a:schemeClr val="accent1"/>
                </a:solidFill>
              </a:rPr>
              <a:t>Non-Negative Matrix Factorization (NMF)</a:t>
            </a:r>
            <a:r>
              <a:rPr lang="en-US" dirty="0">
                <a:solidFill>
                  <a:schemeClr val="accent1"/>
                </a:solidFill>
              </a:rPr>
              <a:t> decomposes the user-course rating matrix into two smaller matrices representing </a:t>
            </a:r>
            <a:r>
              <a:rPr lang="en-US" b="1" dirty="0">
                <a:solidFill>
                  <a:schemeClr val="accent1"/>
                </a:solidFill>
              </a:rPr>
              <a:t>user preferences</a:t>
            </a:r>
            <a:r>
              <a:rPr lang="en-US" dirty="0">
                <a:solidFill>
                  <a:schemeClr val="accent1"/>
                </a:solidFill>
              </a:rPr>
              <a:t> and </a:t>
            </a:r>
            <a:r>
              <a:rPr lang="en-US" b="1" dirty="0">
                <a:solidFill>
                  <a:schemeClr val="accent1"/>
                </a:solidFill>
              </a:rPr>
              <a:t>course characteristics</a:t>
            </a:r>
            <a:r>
              <a:rPr lang="en-US" dirty="0">
                <a:solidFill>
                  <a:schemeClr val="accent1"/>
                </a:solidFill>
              </a:rPr>
              <a:t>. These latent factors are then combined to predict ratings and identify courses that may be relevant to each learner.</a:t>
            </a:r>
          </a:p>
        </p:txBody>
      </p:sp>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Neural Network Embedding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1"/>
                </a:solidFill>
                <a:cs typeface="Calibri"/>
              </a:rPr>
              <a:t>Neural Network Collaborative Filtering learns relationships between users and courses using embedding layers. The model learns latent representations of users and courses and uses them to predict the rating a learner may give to a course.</a:t>
            </a: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107910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user-course rating data</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3"/>
            <a:ext cx="1645920" cy="97750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Users + Courses + Ratings</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Encode Users and Courses</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 Course Embeddings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3"/>
            <a:ext cx="1645920" cy="107910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Learned Latent Representations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Compare the performance of collaborative-filtering models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70058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1C7DDB"/>
                </a:solidFill>
                <a:latin typeface="Abadi"/>
              </a:rPr>
              <a:t>Mean Squared Error (MSE) is used to compare the prediction accuracy of the collaborative-filtering models. A lower MSE indicates that the predicted ratings are closer to the actual ratings.</a:t>
            </a:r>
          </a:p>
          <a:p>
            <a:pPr marL="0" indent="0">
              <a:buNone/>
            </a:pPr>
            <a:r>
              <a:rPr lang="en-US" sz="1800" dirty="0">
                <a:solidFill>
                  <a:srgbClr val="1C7DDB"/>
                </a:solidFill>
                <a:latin typeface="Abadi"/>
              </a:rPr>
              <a:t>The comparison helps identify which collaborative-filtering approach provides the most accurate rating predictions on the evaluated sample.</a:t>
            </a:r>
          </a:p>
          <a:p>
            <a:pPr marL="0" indent="0">
              <a:buNone/>
            </a:pPr>
            <a:endParaRPr lang="en-US" sz="1800" dirty="0">
              <a:solidFill>
                <a:srgbClr val="1C7DDB"/>
              </a:solidFill>
              <a:latin typeface="Abadi"/>
            </a:endParaRPr>
          </a:p>
        </p:txBody>
      </p:sp>
      <p:pic>
        <p:nvPicPr>
          <p:cNvPr id="3" name="Picture 2">
            <a:extLst>
              <a:ext uri="{FF2B5EF4-FFF2-40B4-BE49-F238E27FC236}">
                <a16:creationId xmlns:a16="http://schemas.microsoft.com/office/drawing/2014/main" id="{63E17E54-3AD2-482F-8A73-6C9A288548F1}"/>
              </a:ext>
            </a:extLst>
          </p:cNvPr>
          <p:cNvPicPr>
            <a:picLocks noChangeAspect="1"/>
          </p:cNvPicPr>
          <p:nvPr/>
        </p:nvPicPr>
        <p:blipFill>
          <a:blip r:embed="rId2"/>
          <a:stretch>
            <a:fillRect/>
          </a:stretch>
        </p:blipFill>
        <p:spPr>
          <a:xfrm>
            <a:off x="4148344" y="3556000"/>
            <a:ext cx="4355575" cy="2712720"/>
          </a:xfrm>
          <a:prstGeom prst="rect">
            <a:avLst/>
          </a:prstGeom>
        </p:spPr>
      </p:pic>
    </p:spTree>
    <p:extLst>
      <p:ext uri="{BB962C8B-B14F-4D97-AF65-F5344CB8AC3E}">
        <p14:creationId xmlns:p14="http://schemas.microsoft.com/office/powerpoint/2010/main" val="41301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7733909" cy="4351338"/>
          </a:xfrm>
          <a:prstGeom prst="rect">
            <a:avLst/>
          </a:prstGeom>
        </p:spPr>
        <p:txBody>
          <a:bodyPr>
            <a:normAutofit/>
          </a:bodyPr>
          <a:lstStyle/>
          <a:p>
            <a:pPr marL="0" indent="0">
              <a:lnSpc>
                <a:spcPct val="100000"/>
              </a:lnSpc>
              <a:spcBef>
                <a:spcPts val="1400"/>
              </a:spcBef>
              <a:buNone/>
            </a:pPr>
            <a:r>
              <a:rPr lang="en-US" sz="1800" dirty="0">
                <a:solidFill>
                  <a:schemeClr val="accent1"/>
                </a:solidFill>
                <a:latin typeface="Abadi" panose="020B0604020104020204" pitchFamily="34" charset="0"/>
              </a:rPr>
              <a:t>The project developed and compared multiple machine learning approaches for personalized online course recommendation.</a:t>
            </a:r>
          </a:p>
          <a:p>
            <a:pPr>
              <a:lnSpc>
                <a:spcPct val="100000"/>
              </a:lnSpc>
              <a:spcBef>
                <a:spcPts val="1400"/>
              </a:spcBef>
            </a:pPr>
            <a:r>
              <a:rPr lang="en-US" sz="1800" dirty="0">
                <a:solidFill>
                  <a:schemeClr val="accent1"/>
                </a:solidFill>
                <a:latin typeface="Abadi" panose="020B0604020104020204" pitchFamily="34" charset="0"/>
              </a:rPr>
              <a:t>Content-based methods can recommend courses using course content and genre information.</a:t>
            </a:r>
          </a:p>
          <a:p>
            <a:pPr>
              <a:lnSpc>
                <a:spcPct val="100000"/>
              </a:lnSpc>
              <a:spcBef>
                <a:spcPts val="1400"/>
              </a:spcBef>
            </a:pPr>
            <a:r>
              <a:rPr lang="en-US" sz="1800" b="1" dirty="0">
                <a:solidFill>
                  <a:schemeClr val="accent1"/>
                </a:solidFill>
                <a:latin typeface="Abadi" panose="020B0604020104020204" pitchFamily="34" charset="0"/>
              </a:rPr>
              <a:t>Collaborative filtering can use learner-course interactions to identify relevant recommendations.</a:t>
            </a:r>
          </a:p>
          <a:p>
            <a:pPr>
              <a:lnSpc>
                <a:spcPct val="100000"/>
              </a:lnSpc>
              <a:spcBef>
                <a:spcPts val="1400"/>
              </a:spcBef>
            </a:pPr>
            <a:r>
              <a:rPr lang="en-US" sz="1800" b="1" dirty="0">
                <a:solidFill>
                  <a:schemeClr val="accent1"/>
                </a:solidFill>
                <a:latin typeface="Abadi" panose="020B0604020104020204" pitchFamily="34" charset="0"/>
              </a:rPr>
              <a:t>KNN, NMF, and Neural Networks provide different approaches to learning learner preferences.</a:t>
            </a:r>
          </a:p>
          <a:p>
            <a:pPr>
              <a:lnSpc>
                <a:spcPct val="100000"/>
              </a:lnSpc>
              <a:spcBef>
                <a:spcPts val="1400"/>
              </a:spcBef>
            </a:pPr>
            <a:r>
              <a:rPr lang="en-US" sz="1800" b="1" dirty="0">
                <a:solidFill>
                  <a:schemeClr val="accent1"/>
                </a:solidFill>
                <a:latin typeface="Abadi" panose="020B0604020104020204" pitchFamily="34" charset="0"/>
              </a:rPr>
              <a:t>A hybrid recommendation strategy can combine content-based and collaborative signals for better personalization.</a:t>
            </a:r>
          </a:p>
          <a:p>
            <a:pPr marL="0" indent="0">
              <a:lnSpc>
                <a:spcPct val="100000"/>
              </a:lnSpc>
              <a:spcBef>
                <a:spcPts val="1400"/>
              </a:spcBef>
              <a:buNone/>
            </a:pPr>
            <a:endParaRPr lang="en-US" sz="2000" dirty="0">
              <a:solidFill>
                <a:schemeClr val="accent1"/>
              </a:solidFill>
              <a:latin typeface="Abadi" panose="020B0604020104020204" pitchFamily="34" charset="0"/>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526171" y="1331202"/>
            <a:ext cx="10515600" cy="4351338"/>
          </a:xfrm>
          <a:prstGeom prst="rect">
            <a:avLst/>
          </a:prstGeom>
        </p:spPr>
        <p:txBody>
          <a:bodyPr>
            <a:normAutofit fontScale="92500" lnSpcReduction="20000"/>
          </a:bodyPr>
          <a:lstStyle/>
          <a:p>
            <a:pPr marL="0" lvl="0" indent="0" eaLnBrk="0" fontAlgn="base" hangingPunct="0">
              <a:lnSpc>
                <a:spcPct val="100000"/>
              </a:lnSpc>
              <a:spcBef>
                <a:spcPct val="0"/>
              </a:spcBef>
              <a:spcAft>
                <a:spcPct val="0"/>
              </a:spcAft>
              <a:buFontTx/>
              <a:buChar char="•"/>
            </a:pPr>
            <a:r>
              <a:rPr lang="en-US" altLang="en-US" sz="2000" b="1" dirty="0">
                <a:solidFill>
                  <a:schemeClr val="accent1"/>
                </a:solidFill>
                <a:latin typeface="Arial" panose="020B0604020202020204" pitchFamily="34" charset="0"/>
              </a:rPr>
              <a:t>Dataset</a:t>
            </a:r>
            <a:endParaRPr lang="en-US" altLang="en-US" sz="2000" dirty="0">
              <a:solidFill>
                <a:schemeClr val="accent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Course genre data</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Processed course data</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User-course ratings</a:t>
            </a:r>
          </a:p>
          <a:p>
            <a:pPr marL="0" lvl="0" indent="0" eaLnBrk="0" fontAlgn="base" hangingPunct="0">
              <a:lnSpc>
                <a:spcPct val="100000"/>
              </a:lnSpc>
              <a:spcBef>
                <a:spcPct val="0"/>
              </a:spcBef>
              <a:spcAft>
                <a:spcPct val="0"/>
              </a:spcAft>
              <a:buFontTx/>
              <a:buChar char="•"/>
            </a:pPr>
            <a:r>
              <a:rPr lang="en-US" altLang="en-US" sz="2000" b="1" dirty="0">
                <a:solidFill>
                  <a:schemeClr val="accent1"/>
                </a:solidFill>
                <a:latin typeface="Arial" panose="020B0604020202020204" pitchFamily="34" charset="0"/>
              </a:rPr>
              <a:t>Machine Learning Methods</a:t>
            </a:r>
            <a:endParaRPr lang="en-US" altLang="en-US" sz="2000" dirty="0">
              <a:solidFill>
                <a:schemeClr val="accent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TF-IDF &amp; Cosine Similarity</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K-Means &amp; PCA</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KNN &amp; NMF</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Neural Network</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MSE comparison</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Recommendation diversity</a:t>
            </a:r>
          </a:p>
          <a:p>
            <a:pPr marL="0" lvl="0" indent="0" eaLnBrk="0" fontAlgn="base" hangingPunct="0">
              <a:lnSpc>
                <a:spcPct val="100000"/>
              </a:lnSpc>
              <a:spcBef>
                <a:spcPct val="0"/>
              </a:spcBef>
              <a:spcAft>
                <a:spcPct val="0"/>
              </a:spcAft>
              <a:buFontTx/>
              <a:buChar char="•"/>
            </a:pPr>
            <a:r>
              <a:rPr lang="en-US" altLang="en-US" sz="2000" b="1" dirty="0">
                <a:solidFill>
                  <a:schemeClr val="accent1"/>
                </a:solidFill>
                <a:latin typeface="Arial" panose="020B0604020202020204" pitchFamily="34" charset="0"/>
              </a:rPr>
              <a:t>Evaluation</a:t>
            </a:r>
            <a:endParaRPr lang="en-US" altLang="en-US" sz="2000" dirty="0">
              <a:solidFill>
                <a:schemeClr val="accent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Catalog coverage</a:t>
            </a:r>
          </a:p>
          <a:p>
            <a:pPr marL="0" lvl="0" indent="0" eaLnBrk="0" fontAlgn="base" hangingPunct="0">
              <a:lnSpc>
                <a:spcPct val="100000"/>
              </a:lnSpc>
              <a:spcBef>
                <a:spcPct val="0"/>
              </a:spcBef>
              <a:spcAft>
                <a:spcPct val="0"/>
              </a:spcAft>
              <a:buFontTx/>
              <a:buChar char="•"/>
            </a:pPr>
            <a:r>
              <a:rPr lang="en-US" altLang="en-US" sz="2000" b="1" dirty="0">
                <a:solidFill>
                  <a:schemeClr val="accent1"/>
                </a:solidFill>
                <a:latin typeface="Arial" panose="020B0604020202020204" pitchFamily="34" charset="0"/>
              </a:rPr>
              <a:t>Implementation</a:t>
            </a:r>
            <a:endParaRPr lang="en-US" altLang="en-US" sz="2000" dirty="0">
              <a:solidFill>
                <a:schemeClr val="accent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Python</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Scikit-learn</a:t>
            </a:r>
          </a:p>
          <a:p>
            <a:pPr marL="0" lvl="0" indent="0" eaLnBrk="0" fontAlgn="base" hangingPunct="0">
              <a:lnSpc>
                <a:spcPct val="100000"/>
              </a:lnSpc>
              <a:spcBef>
                <a:spcPct val="0"/>
              </a:spcBef>
              <a:spcAft>
                <a:spcPct val="0"/>
              </a:spcAft>
              <a:buFontTx/>
              <a:buChar char="•"/>
            </a:pPr>
            <a:r>
              <a:rPr lang="en-US" altLang="en-US" sz="2000" dirty="0">
                <a:solidFill>
                  <a:schemeClr val="accent1"/>
                </a:solidFill>
                <a:latin typeface="Arial" panose="020B0604020202020204" pitchFamily="34" charset="0"/>
              </a:rPr>
              <a:t>TensorFlow / </a:t>
            </a:r>
            <a:r>
              <a:rPr lang="en-US" altLang="en-US" sz="2000" dirty="0" err="1">
                <a:solidFill>
                  <a:schemeClr val="accent1"/>
                </a:solidFill>
                <a:latin typeface="Arial" panose="020B0604020202020204" pitchFamily="34" charset="0"/>
              </a:rPr>
              <a:t>Keras</a:t>
            </a:r>
            <a:endParaRPr lang="en-US" altLang="en-US" sz="2000" dirty="0">
              <a:solidFill>
                <a:schemeClr val="accent1"/>
              </a:solidFill>
              <a:latin typeface="Arial" panose="020B0604020202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2670</TotalTime>
  <Words>1247</Words>
  <Application>Microsoft Office PowerPoint</Application>
  <PresentationFormat>Widescreen</PresentationFormat>
  <Paragraphs>161</Paragraphs>
  <Slides>22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Abadi</vt:lpstr>
      <vt:lpstr>Arial</vt:lpstr>
      <vt:lpstr>Arial Unicode MS</vt:lpstr>
      <vt:lpstr>Calibri</vt: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Compare the performance of collaborative-filtering models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dhanush hegde</cp:lastModifiedBy>
  <cp:revision>468</cp:revision>
  <dcterms:created xsi:type="dcterms:W3CDTF">2021-04-29T18:58:34Z</dcterms:created>
  <dcterms:modified xsi:type="dcterms:W3CDTF">2026-10-08T17:52:36Z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